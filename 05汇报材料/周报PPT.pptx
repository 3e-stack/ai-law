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200"/>
            </a:pPr>
            <a:r>
              <a:t>部署方式占比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spPr>
              <a:solidFill>
                <a:srgbClr val="1B3A5C"/>
              </a:solidFill>
            </c:spPr>
          </c:dPt>
          <c:dPt>
            <c:idx val="1"/>
            <c:spPr>
              <a:solidFill>
                <a:srgbClr val="2E86C1"/>
              </a:solidFill>
            </c:spPr>
          </c:dPt>
          <c:dPt>
            <c:idx val="2"/>
            <c:spPr>
              <a:solidFill>
                <a:srgbClr val="E74C3C"/>
              </a:solidFill>
            </c:spPr>
          </c:dPt>
          <c:dPt>
            <c:idx val="3"/>
            <c:spPr>
              <a:solidFill>
                <a:srgbClr val="F39C12"/>
              </a:solidFill>
            </c:spPr>
          </c:dPt>
          <c:cat>
            <c:strRef>
              <c:f>Sheet1!$A$2:$A$5</c:f>
              <c:strCache>
                <c:ptCount val="4"/>
                <c:pt idx="0">
                  <c:v>云端SaaS</c:v>
                </c:pt>
                <c:pt idx="1">
                  <c:v>私有化+云端</c:v>
                </c:pt>
                <c:pt idx="2">
                  <c:v>私有化部署</c:v>
                </c:pt>
                <c:pt idx="3">
                  <c:v>开源本地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latin typeface="Microsoft YaHei"/>
                </a:defRPr>
              </a:pPr>
            </a:p>
          </c:txPr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legend>
      <c:txPr>
        <a:bodyPr/>
        <a:lstStyle/>
        <a:p>
          <a:pPr>
            <a:defRPr sz="100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综合能力评分</c:v>
                </c:pt>
              </c:strCache>
            </c:strRef>
          </c:tx>
          <c:spPr>
            <a:solidFill>
              <a:srgbClr val="2E86C1"/>
            </a:solidFill>
          </c:spPr>
          <c:dLbls>
            <c:txPr>
              <a:bodyPr/>
              <a:lstStyle/>
              <a:p>
                <a:pPr>
                  <a:defRPr sz="900"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Harvey AI</c:v>
                </c:pt>
                <c:pt idx="1">
                  <c:v>CoCounsel</c:v>
                </c:pt>
                <c:pt idx="2">
                  <c:v>Leya</c:v>
                </c:pt>
                <c:pt idx="3">
                  <c:v>Spellbook</c:v>
                </c:pt>
                <c:pt idx="4">
                  <c:v>Claude Legal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9.2</c:v>
                </c:pt>
                <c:pt idx="1">
                  <c:v>9.0</c:v>
                </c:pt>
                <c:pt idx="2">
                  <c:v>7.8</c:v>
                </c:pt>
                <c:pt idx="3">
                  <c:v>7.5</c:v>
                </c:pt>
                <c:pt idx="4">
                  <c:v>8.8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年费(元)</c:v>
                </c:pt>
              </c:strCache>
            </c:strRef>
          </c:tx>
          <c:spPr>
            <a:solidFill>
              <a:srgbClr val="2E86C1"/>
            </a:solidFill>
          </c:spPr>
          <c:dLbls>
            <c:txPr>
              <a:bodyPr/>
              <a:lstStyle/>
              <a:p>
                <a:pPr>
                  <a:defRPr sz="900"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智律云</c:v>
                </c:pt>
                <c:pt idx="1">
                  <c:v>通义法睿</c:v>
                </c:pt>
                <c:pt idx="2">
                  <c:v>得理法搜</c:v>
                </c:pt>
                <c:pt idx="3">
                  <c:v>MeCheck</c:v>
                </c:pt>
                <c:pt idx="4">
                  <c:v>AlphaGPT</c:v>
                </c:pt>
                <c:pt idx="5">
                  <c:v>法宝来签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1980</c:v>
                </c:pt>
                <c:pt idx="1">
                  <c:v>2400</c:v>
                </c:pt>
                <c:pt idx="2">
                  <c:v>2880</c:v>
                </c:pt>
                <c:pt idx="3">
                  <c:v>2800</c:v>
                </c:pt>
                <c:pt idx="4">
                  <c:v>3600</c:v>
                </c:pt>
                <c:pt idx="5">
                  <c:v>3000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成熟度(1-10)</c:v>
                </c:pt>
              </c:strCache>
            </c:strRef>
          </c:tx>
          <c:spPr>
            <a:solidFill>
              <a:srgbClr val="2E86C1"/>
            </a:solidFill>
          </c:spPr>
          <c:dLbls>
            <c:txPr>
              <a:bodyPr/>
              <a:lstStyle/>
              <a:p>
                <a:pPr>
                  <a:defRPr sz="900"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LLM+RAG</c:v>
                </c:pt>
                <c:pt idx="1">
                  <c:v>领域微调</c:v>
                </c:pt>
                <c:pt idx="2">
                  <c:v>知识图谱</c:v>
                </c:pt>
                <c:pt idx="3">
                  <c:v>Agent工作流</c:v>
                </c:pt>
                <c:pt idx="4">
                  <c:v>多模态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8</c:v>
                </c:pt>
                <c:pt idx="2">
                  <c:v>7</c:v>
                </c:pt>
                <c:pt idx="3">
                  <c:v>6</c:v>
                </c:pt>
                <c:pt idx="4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spPr>
              <a:solidFill>
                <a:srgbClr val="1B3A5C"/>
              </a:solidFill>
            </c:spPr>
          </c:dPt>
          <c:dPt>
            <c:idx val="1"/>
            <c:spPr>
              <a:solidFill>
                <a:srgbClr val="2E86C1"/>
              </a:solidFill>
            </c:spPr>
          </c:dPt>
          <c:dPt>
            <c:idx val="2"/>
            <c:spPr>
              <a:solidFill>
                <a:srgbClr val="E74C3C"/>
              </a:solidFill>
            </c:spPr>
          </c:dPt>
          <c:cat>
            <c:strRef>
              <c:f>Sheet1!$A$2:$A$4</c:f>
              <c:strCache>
                <c:ptCount val="3"/>
                <c:pt idx="0">
                  <c:v>纯SaaS</c:v>
                </c:pt>
                <c:pt idx="1">
                  <c:v>SaaS+私有化</c:v>
                </c:pt>
                <c:pt idx="2">
                  <c:v>纯私有化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latin typeface="Microsoft YaHei"/>
                </a:defRPr>
              </a:pPr>
            </a:p>
          </c:txPr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legend>
      <c:txPr>
        <a:bodyPr/>
        <a:lstStyle/>
        <a:p>
          <a:pPr>
            <a:defRPr sz="100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200"/>
            </a:pPr>
            <a:r>
              <a:t>数据来源分布（43条数据点）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spPr>
              <a:solidFill>
                <a:srgbClr val="1B3A5C"/>
              </a:solidFill>
            </c:spPr>
          </c:dPt>
          <c:dPt>
            <c:idx val="1"/>
            <c:spPr>
              <a:solidFill>
                <a:srgbClr val="2E86C1"/>
              </a:solidFill>
            </c:spPr>
          </c:dPt>
          <c:dPt>
            <c:idx val="2"/>
            <c:spPr>
              <a:solidFill>
                <a:srgbClr val="E74C3C"/>
              </a:solidFill>
            </c:spPr>
          </c:dPt>
          <c:dPt>
            <c:idx val="3"/>
            <c:spPr>
              <a:solidFill>
                <a:srgbClr val="F39C12"/>
              </a:solidFill>
            </c:spPr>
          </c:dPt>
          <c:cat>
            <c:strRef>
              <c:f>Sheet1!$A$2:$A$5</c:f>
              <c:strCache>
                <c:ptCount val="4"/>
                <c:pt idx="0">
                  <c:v>供应商资料</c:v>
                </c:pt>
                <c:pt idx="1">
                  <c:v>媒体报道</c:v>
                </c:pt>
                <c:pt idx="2">
                  <c:v>开源模型</c:v>
                </c:pt>
                <c:pt idx="3">
                  <c:v>行业报告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</c:v>
                </c:pt>
                <c:pt idx="1">
                  <c:v>12</c:v>
                </c:pt>
                <c:pt idx="2">
                  <c:v>15</c:v>
                </c:pt>
                <c:pt idx="3">
                  <c:v>5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latin typeface="Microsoft YaHei"/>
                </a:defRPr>
              </a:pPr>
            </a:p>
          </c:txPr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legend>
      <c:txPr>
        <a:bodyPr/>
        <a:lstStyle/>
        <a:p>
          <a:pPr>
            <a:defRPr sz="100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457200"/>
            <a:ext cx="3200400" cy="3200400"/>
          </a:xfrm>
          <a:prstGeom prst="ellipse">
            <a:avLst/>
          </a:prstGeom>
          <a:solidFill>
            <a:srgbClr val="244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244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AI法务审核赛道调研报告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2000" b="0">
                <a:solidFill>
                  <a:srgbClr val="AED6F1"/>
                </a:solidFill>
                <a:latin typeface="Microsoft YaHei"/>
              </a:defRPr>
            </a:pPr>
            <a:r>
              <a:t>—— 全球法律AI产品、技术与合作机会分析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566160"/>
            <a:ext cx="274320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600" b="0">
                <a:solidFill>
                  <a:srgbClr val="AED6F1"/>
                </a:solidFill>
                <a:latin typeface="Microsoft YaHei"/>
              </a:defRPr>
            </a:pPr>
            <a:r>
              <a:t>2026年6月  |  企业AI行业研究部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100" b="0">
                <a:solidFill>
                  <a:srgbClr val="7FA8C8"/>
                </a:solidFill>
                <a:latin typeface="Microsoft YaHei"/>
              </a:defRPr>
            </a:pPr>
            <a:r>
              <a:t>数据来源：供应商资料库 / 行业媒体报道 / 开源模型调研  |  本报告仅供内部参考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0">
                <a:solidFill>
                  <a:srgbClr val="AED6F1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1645920"/>
            <a:ext cx="411480" cy="41148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27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642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研究目标、范围与方法论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2148840"/>
            <a:ext cx="8686800" cy="457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71600" y="2267712"/>
            <a:ext cx="411480" cy="41148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2494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行业概况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286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全球市场格局与发展趋势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2770632"/>
            <a:ext cx="8686800" cy="457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71600" y="2889504"/>
            <a:ext cx="411480" cy="41148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87121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海外头部产品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90779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Harvey AI / CoCounsel / Claude for Legal 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3392424"/>
            <a:ext cx="8686800" cy="457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371600" y="3511296"/>
            <a:ext cx="411480" cy="41148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4930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国内替代产品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52958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通义法睿 / AlphaGPT / 智律云 等8+产品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4014215"/>
            <a:ext cx="8686800" cy="457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71600" y="4133088"/>
            <a:ext cx="411480" cy="4114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114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技术路线分析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1513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LLM+RAG / 知识图谱 / 微调策略对比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0" y="4636008"/>
            <a:ext cx="8686800" cy="457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71600" y="4754880"/>
            <a:ext cx="411480" cy="4114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7365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部署模式分析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7731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SaaS云端 vs 私有化部署 vs 混合模式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0" y="5257800"/>
            <a:ext cx="8686800" cy="457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71600" y="5376672"/>
            <a:ext cx="411480" cy="4114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3583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集团适用场景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539495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合同审查 / 合规管理 / 法律研究等场景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0" y="5879592"/>
            <a:ext cx="8686800" cy="457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71600" y="5998464"/>
            <a:ext cx="411480" cy="4114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59801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合作建议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60167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200" b="0">
                <a:solidFill>
                  <a:srgbClr val="7F8C8D"/>
                </a:solidFill>
                <a:latin typeface="Microsoft YaHei"/>
              </a:defRPr>
            </a:pPr>
            <a:r>
              <a:t>供应商评估与落地路径建议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4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01  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0">
                <a:solidFill>
                  <a:srgbClr val="AED6F1"/>
                </a:solidFill>
                <a:latin typeface="Microsoft YaHei"/>
              </a:defRPr>
            </a:pPr>
            <a:r>
              <a:t>PROJECT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2000" b="1">
                <a:solidFill>
                  <a:srgbClr val="1B3A5C"/>
                </a:solidFill>
                <a:latin typeface="Microsoft YaHei"/>
              </a:defRPr>
            </a:pPr>
            <a:r>
              <a:t>研究背景与目标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2026年全球法律AI市场规模突破160亿美元，AI技术正深度重构法律行业工作范式</a:t>
            </a:r>
          </a:p>
          <a:p>
            <a:pPr>
              <a:spcAft>
                <a:spcPts val="28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国务院已将AI综合性立法列入年度立法计划，AI法务合规成为企业刚需</a:t>
            </a:r>
          </a:p>
          <a:p>
            <a:pPr>
              <a:spcAft>
                <a:spcPts val="28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国内法律AI用户突破500万，律所渗透率72%，企业法务采用率58%</a:t>
            </a:r>
          </a:p>
          <a:p>
            <a:pPr>
              <a:spcAft>
                <a:spcPts val="28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OpenAI、Anthropic、Palantir、Microsoft四大科技巨头同期入局法律AI赛道</a:t>
            </a:r>
          </a:p>
          <a:p>
            <a:pPr>
              <a:spcAft>
                <a:spcPts val="280"/>
              </a:spcAft>
              <a:defRPr sz="1300">
                <a:solidFill>
                  <a:srgbClr val="2C3E50"/>
                </a:solidFill>
                <a:latin typeface="Microsoft YaHei"/>
              </a:defRPr>
            </a:pPr>
            <a:r>
              <a:t>本报告旨在系统梳理AI法务审核赛道，为集团业务决策提供数据支持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2000" b="1">
                <a:solidFill>
                  <a:srgbClr val="1B3A5C"/>
                </a:solidFill>
                <a:latin typeface="Microsoft YaHei"/>
              </a:defRPr>
            </a:pPr>
            <a:r>
              <a:t>关键数据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291840"/>
            <a:ext cx="2286000" cy="9144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383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2400" b="1">
                <a:solidFill>
                  <a:srgbClr val="1B3A5C"/>
                </a:solidFill>
                <a:latin typeface="Microsoft YaHei"/>
              </a:defRPr>
            </a:pPr>
            <a:r>
              <a:t>$160亿+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794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000" b="0">
                <a:solidFill>
                  <a:srgbClr val="56646F"/>
                </a:solidFill>
                <a:latin typeface="Microsoft YaHei"/>
              </a:defRPr>
            </a:pPr>
            <a:r>
              <a:t>全球法律AI</a:t>
            </a:r>
            <a:br/>
            <a:r>
              <a:t>市场规模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3291840"/>
            <a:ext cx="2286000" cy="9144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33832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2400" b="1">
                <a:solidFill>
                  <a:srgbClr val="1B3A5C"/>
                </a:solidFill>
                <a:latin typeface="Microsoft YaHei"/>
              </a:defRPr>
            </a:pPr>
            <a:r>
              <a:t>500万+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37947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000" b="0">
                <a:solidFill>
                  <a:srgbClr val="56646F"/>
                </a:solidFill>
                <a:latin typeface="Microsoft YaHei"/>
              </a:defRPr>
            </a:pPr>
            <a:r>
              <a:t>国内法律AI</a:t>
            </a:r>
            <a:br/>
            <a:r>
              <a:t>用户总数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480560"/>
            <a:ext cx="2286000" cy="9144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572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2400" b="1">
                <a:solidFill>
                  <a:srgbClr val="1B3A5C"/>
                </a:solidFill>
                <a:latin typeface="Microsoft YaHei"/>
              </a:defRPr>
            </a:pPr>
            <a:r>
              <a:t>72%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983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000" b="0">
                <a:solidFill>
                  <a:srgbClr val="56646F"/>
                </a:solidFill>
                <a:latin typeface="Microsoft YaHei"/>
              </a:defRPr>
            </a:pPr>
            <a:r>
              <a:t>律所AI</a:t>
            </a:r>
            <a:br/>
            <a:r>
              <a:t>渗透率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4480560"/>
            <a:ext cx="2286000" cy="9144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4572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2400" b="1">
                <a:solidFill>
                  <a:srgbClr val="1B3A5C"/>
                </a:solidFill>
                <a:latin typeface="Microsoft YaHei"/>
              </a:defRPr>
            </a:pPr>
            <a:r>
              <a:t>11款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983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000" b="0">
                <a:solidFill>
                  <a:srgbClr val="56646F"/>
                </a:solidFill>
                <a:latin typeface="Microsoft YaHei"/>
              </a:defRPr>
            </a:pPr>
            <a:r>
              <a:t>本次调研</a:t>
            </a:r>
            <a:br/>
            <a:r>
              <a:t>供应商数量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60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调研范围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100" b="0">
                <a:solidFill>
                  <a:srgbClr val="56646F"/>
                </a:solidFill>
                <a:latin typeface="Microsoft YaHei"/>
              </a:defRPr>
            </a:pPr>
            <a:r>
              <a:t>全球市场（美国 + 欧洲 + 中国） | 供应商11家 | 媒体资讯12条 | 开源模型15个 | 时间跨度：2026年1月-6月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4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02  行业概况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0">
                <a:solidFill>
                  <a:srgbClr val="AED6F1"/>
                </a:solidFill>
                <a:latin typeface="Microsoft YaHei"/>
              </a:defRPr>
            </a:pPr>
            <a:r>
              <a:t>INDUSTRY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全球法律AI市场趋势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■ 市场规模：2026年全球法律AI市场突破$160亿，预计2030年达$400亿+</a:t>
            </a:r>
          </a:p>
          <a:p>
            <a:pPr>
              <a:spcAft>
                <a:spcPts val="27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■ 技术拐点：大语言模型(LLM)+RAG成为法律AI技术核心范式</a:t>
            </a:r>
          </a:p>
          <a:p>
            <a:pPr>
              <a:spcAft>
                <a:spcPts val="27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■ 巨头入局：OpenAI设立法律事业部，Anthropic开源Claude for Legal</a:t>
            </a:r>
          </a:p>
          <a:p>
            <a:pPr>
              <a:spcAft>
                <a:spcPts val="27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■ 中国渗透：国内法律AI用户超500万，72%律所已采用AI工具</a:t>
            </a:r>
          </a:p>
          <a:p>
            <a:pPr>
              <a:spcAft>
                <a:spcPts val="27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■ 立法驱动：AI综合性立法列入年度计划，合规需求激增</a:t>
            </a:r>
          </a:p>
          <a:p>
            <a:pPr>
              <a:spcAft>
                <a:spcPts val="27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■ 生态协同：模型厂商+法律服务商+律所三方协同成为行业主流模式</a:t>
            </a:r>
          </a:p>
          <a:p>
            <a:pPr>
              <a:spcAft>
                <a:spcPts val="27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■ 付费意愿：企业愿为嵌入业务流的SaaS法律插件付费，不愿为通用大模型付费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部署模式分布（调研样本11家供应商）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0" y="1828800"/>
          <a:ext cx="50292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303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1">
                <a:solidFill>
                  <a:srgbClr val="E74C3C"/>
                </a:solidFill>
                <a:latin typeface="Microsoft YaHei"/>
              </a:defRPr>
            </a:pPr>
            <a:r>
              <a:t>行业关键判断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0"/>
              </a:spcAft>
              <a:defRPr sz="1100">
                <a:solidFill>
                  <a:srgbClr val="56646F"/>
                </a:solidFill>
                <a:latin typeface="Microsoft YaHei"/>
              </a:defRPr>
            </a:pPr>
            <a:r>
              <a:t>① 海外法律AI已从"能不能用"进入"如何合规治理"阶段 | ② 国内产品在合同审查场景已达到商业化水平 | ③ 开源模型+私有部署是数据敏感型集团企业的优选路径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4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03  海外头部产品（1/2）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0">
                <a:solidFill>
                  <a:srgbClr val="AED6F1"/>
                </a:solidFill>
                <a:latin typeface="Microsoft YaHei"/>
              </a:defRPr>
            </a:pPr>
            <a:r>
              <a:t>OVERSEAS LEADING 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743200"/>
                <a:gridCol w="1645920"/>
                <a:gridCol w="2011680"/>
                <a:gridCol w="30175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产品名称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核心技术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部署方式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收费模式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核心优势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Harvey AI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GPT-4微调+RAG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法律数据库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云端SaaS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企业订阅制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按用户/月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法律领域微调最成熟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覆盖合同/研究/诉讼全场景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CoCounsel</a:t>
                      </a:r>
                    </a:p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(Casetext)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GPT-4+RAG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Westlaw数据库集成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云端SaaS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订阅制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与Westlaw集成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被Thomson Reuters收购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法律数据库深度整合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Leya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LLM+工作流引擎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专注欧洲法律体系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云端SaaS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企业订阅制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按团队规模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多文件批量处理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法律工作流自动化领先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Spellbook</a:t>
                      </a:r>
                    </a:p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(Rally)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GPT-4微调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Word插件深度集成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云端API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(Word插件)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订阅制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$99/用户/月起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合同场景精专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律师操作习惯最优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Claude for Legal</a:t>
                      </a:r>
                    </a:p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(Anthropic)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Claude模型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Apache 2.0开源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SaaS+本地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CLAUDE.md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开源免费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API按token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12插件+151skill+93Agent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自动学习律所工作流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3891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最新动态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 OpenAI成立法律事业部，聘请Ironclad联合创始人Jason Boehmig负责 —— 2026年6月</a:t>
            </a:r>
          </a:p>
          <a:p>
            <a:pPr>
              <a:spcAft>
                <a:spcPts val="24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 Anthropic发布Claude for Legal，含12个专业插件+93个命名Agent，Apache 2.0开源 —— 2026年5月</a:t>
            </a:r>
          </a:p>
          <a:p>
            <a:pPr>
              <a:spcAft>
                <a:spcPts val="24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 Palantir入局法律AI，四大科技巨头（Palantir/OpenAI/Anthropic/Microsoft）同场竞技 —— 2026年6月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4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03  海外头部产品（2/2）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0">
                <a:solidFill>
                  <a:srgbClr val="AED6F1"/>
                </a:solidFill>
                <a:latin typeface="Microsoft YaHei"/>
              </a:defRPr>
            </a:pPr>
            <a:r>
              <a:t>OVERSEAS LEADING 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2560320"/>
                <a:gridCol w="228600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产品名称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核心技术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特色功能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适用场景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竞争优势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DocumentDrafter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Agentic Templating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智能模板引擎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律师审核模板一次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后续合同自动继承判断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合同生成与管理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法律文书自动化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模板智能化程度高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减少重复审核工作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LawVu LegalOS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5项AI能力一体化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工作流自动化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intake/工作流/起草/运营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全流程覆盖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企业法务运营管理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工作流自动化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法律运营OS定位独特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全流程AI覆盖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Filevine LOIS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读写AI+法律事项图谱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实体预处理系统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自动扫描分块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提取法律实体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律所案件管理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法律文档处理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法律事项图谱创新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预处理系统效率高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Relativity FOIA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公共披露请求管理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单一工作空间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Disclosure Center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Reading Room功能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政府信息公开处理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合规披露管理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细分场景精准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政府市场壁垒高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Icertis Vera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自然语言对话查询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AI起草+红线标注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合同对话式查询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风险分析可视化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合同全生命周期管理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企业级合同平台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对话式交互体验佳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合同分析深度强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海外产品核心能力对比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846320"/>
          <a:ext cx="1051560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4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04  国内替代产品（1/2）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0">
                <a:solidFill>
                  <a:srgbClr val="AED6F1"/>
                </a:solidFill>
                <a:latin typeface="Microsoft YaHei"/>
              </a:defRPr>
            </a:pPr>
            <a:r>
              <a:t>DOMESTIC ALTERNATIVE 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1828800"/>
                <a:gridCol w="2011680"/>
                <a:gridCol w="28346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产品名称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技术路线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部署方式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收费模式(年)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核心场景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通义法睿（阿里云）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通义千问+RAG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法律Agent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云端API/专属实例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API按token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企业版待确认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法律文件生成、合同审查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法规问答、案例检索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AlphaGPT（iCourt）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法律垂直大模型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DeepSeek R1接入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SaaS云端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¥3,600/年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（需购Alpha系统）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合同审查/文书写作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案情分析（法条引用96%）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智律云AutoPilot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法律大模型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对话式交互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SaaS云端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¥1,980/年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（不限次）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3步完成文书生成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法条引用正确率98%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法大大AI法务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自研大模型+知识图谱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电子签章集成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云端SaaS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私有化部署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按年订阅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企业定制报价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合同全生命周期管理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电子签约+合规审查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契约锁AI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自研法律大模型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合同知识库+规则引擎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云端SaaS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私有化部署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年度订阅制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按模块/用户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合同审核+风险识别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合同数据分析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得理法搜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法律大模型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海量数据库检索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SaaS云端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¥2,880/年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（按次计费）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智能检索+类案分析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标注来源杜绝幻觉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300" b="1">
                <a:solidFill>
                  <a:srgbClr val="1B3A5C"/>
                </a:solidFill>
                <a:latin typeface="Microsoft YaHei"/>
              </a:defRPr>
            </a:pPr>
            <a:r>
              <a:t>国内主流产品年度价格对比（元）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5120640"/>
          <a:ext cx="5486400" cy="1554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4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04  国内替代产品（2/2）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0">
                <a:solidFill>
                  <a:srgbClr val="AED6F1"/>
                </a:solidFill>
                <a:latin typeface="Microsoft YaHei"/>
              </a:defRPr>
            </a:pPr>
            <a:r>
              <a:t>DOMESTIC ALTERNATIVE 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377440"/>
                <a:gridCol w="1828800"/>
                <a:gridCol w="2560320"/>
                <a:gridCol w="24688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产品名称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技术路线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部署方式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适用场景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差异化特点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竹间智能法务AI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企业级大模型+NLP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知识图谱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私有化/云端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大型企业法务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金融机构合规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支持私有数据训练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定制化能力强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无讼法务AI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垂直法律大模型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无讼案例库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SaaS云端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律所/企业法务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日常法律事务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无讼案例库积累深厚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律师工作台一体化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北大英华LexAI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LLM+北大法宝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数据库深度集成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SaaS/API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法律研究机构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高校/企业合规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北大法宝数据库壁垒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法规合规研究专精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法宝来签（北大英华）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大语言模型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合同智能审查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SaaS云端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智能合同起草与审查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企业法务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¥3,000/年（按合同数）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北大法宝数据支撑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律科智合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法律垂类大模型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1.8亿份判例训练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微信小程序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线下终端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中小企业法律合规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社区法律服务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软著+算法备案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线下智能终端创新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MetaLaw（秘塔）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AI法律检索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案例检索精度高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SaaS云端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案例检索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法律研究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¥1,800/年（按次）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案例检索正确率92%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MeCheck（幂律智能）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AI合同审查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商业合同专精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SaaS云端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商业合同审查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企业法务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¥2,800/年（按合同数）</a:t>
                      </a:r>
                    </a:p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商业合同场景专精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120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国内产品功能覆盖度评估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54864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评估维度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通义法睿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AlphaGPT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智律云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法大大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得理法搜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合同审查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法律研究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★★☆☆☆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文书生成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合规管理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数据壁垒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4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05  技术路线分析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0">
                <a:solidFill>
                  <a:srgbClr val="AED6F1"/>
                </a:solidFill>
                <a:latin typeface="Microsoft YaHei"/>
              </a:defRPr>
            </a:pPr>
            <a:r>
              <a:t>TECHNICAL ROUTE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主流技术路线对比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28800"/>
          <a:ext cx="9601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32004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技术路线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代表产品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优势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局限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LLM+RAG</a:t>
                      </a:r>
                    </a:p>
                    <a:p>
                      <a:pPr algn="l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检索增强生成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Harvey AI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CoCounsel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通义法睿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接入权威法律数据库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幻觉率低、可溯源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依赖高质量数据库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检索效率影响响应速度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垂直领域微调</a:t>
                      </a:r>
                    </a:p>
                    <a:p>
                      <a:pPr algn="l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(SFT+DPO)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AlphaGPT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Spellbook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SaulLM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法律场景精度高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专业术语理解到位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训练成本高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模型更新周期长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知识图谱</a:t>
                      </a:r>
                    </a:p>
                    <a:p>
                      <a:pPr algn="l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+规则引擎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契约锁AI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法大大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DISC-LawLLM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逻辑推理可解释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风险规则可控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知识图谱构建复杂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泛化能力受限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Agent工作流</a:t>
                      </a:r>
                    </a:p>
                    <a:p>
                      <a:pPr algn="l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自动化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Claude for Legal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LawVu LegalOS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端到端自动化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多步骤复杂任务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开发复杂度高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场景适配需深度定制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多模态+插件</a:t>
                      </a:r>
                    </a:p>
                    <a:p>
                      <a:pPr algn="l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生态集成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Claude for Legal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DocumentDrafter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生态扩展性强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可接入多种工具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依赖第三方生态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兼容性维护成本高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技术趋势判断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1. LLM+RAG 为当前主流范式</a:t>
            </a:r>
          </a:p>
          <a:p>
            <a:pPr>
              <a:spcAft>
                <a:spcPts val="16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   80%+法律AI产品以此为核心架构</a:t>
            </a:r>
          </a:p>
          <a:p>
            <a:pPr>
              <a:spcAft>
                <a:spcPts val="16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6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2. 微调策略从SFT向RLHF/DPO演进</a:t>
            </a:r>
          </a:p>
          <a:p>
            <a:pPr>
              <a:spcAft>
                <a:spcPts val="16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   更精准对齐法律专业需求</a:t>
            </a:r>
          </a:p>
          <a:p>
            <a:pPr>
              <a:spcAft>
                <a:spcPts val="16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6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3. Agent化是下一阶段竞争焦点</a:t>
            </a:r>
          </a:p>
          <a:p>
            <a:pPr>
              <a:spcAft>
                <a:spcPts val="16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   从单点工具迈向多步骤自动执行</a:t>
            </a:r>
          </a:p>
          <a:p>
            <a:pPr>
              <a:spcAft>
                <a:spcPts val="16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6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4. 开源模型缩小与闭源差距</a:t>
            </a:r>
          </a:p>
          <a:p>
            <a:pPr>
              <a:spcAft>
                <a:spcPts val="16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   SaulLM/DISC-LawLLM等持续迭代</a:t>
            </a:r>
          </a:p>
          <a:p>
            <a:pPr>
              <a:spcAft>
                <a:spcPts val="16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6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5. 多模型协同成为趋势</a:t>
            </a:r>
          </a:p>
          <a:p>
            <a:pPr>
              <a:spcAft>
                <a:spcPts val="16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   大小模型搭配，平衡效率与精度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各技术路线成熟度评估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31520" y="5760720"/>
          <a:ext cx="10515600" cy="1005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4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06  部署模式分析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0">
                <a:solidFill>
                  <a:srgbClr val="AED6F1"/>
                </a:solidFill>
                <a:latin typeface="Microsoft YaHei"/>
              </a:defRPr>
            </a:pPr>
            <a:r>
              <a:t>DEPLOYMENT MODEL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0058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对比维度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云端SaaS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私有化部署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混合模式（推荐）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数据安全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数据存储在云端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需评估合规风险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数据完全本地化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安全性最高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敏感数据本地化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非敏感数据上云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部署周期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即时开通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零部署成本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2-8周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需IT资源投入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1-4周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分阶段上线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运维成本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供应商负责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按年订阅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企业自行运维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需GPU资源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核心模块自运维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功能模块云端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定制能力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标准化功能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有限可配置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高度可定制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支持私有数据训练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核心定制+标准功能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灵活组合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适用场景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中小型法务团队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非敏感业务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大型集团/金融机构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数据合规刚需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文旅集团/国企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平衡安全与效率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代表产品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Harvey/CoCounsel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通义法睿/AlphaGPT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竹间智能/契约锁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法大大（私有版）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竹间智能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法大大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年成本估算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¥2,000-10,000/用户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¥50万-200万+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含GPU/运维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¥20万-80万</a:t>
                      </a:r>
                    </a:p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按模块组合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4572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300" b="1">
                <a:solidFill>
                  <a:srgbClr val="1B3A5C"/>
                </a:solidFill>
                <a:latin typeface="Microsoft YaHei"/>
              </a:defRPr>
            </a:pPr>
            <a:r>
              <a:t>供应商部署模式分布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0" y="4846320"/>
          <a:ext cx="347472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4572000"/>
            <a:ext cx="6858000" cy="201168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1">
                <a:solidFill>
                  <a:srgbClr val="F39C12"/>
                </a:solidFill>
                <a:latin typeface="Microsoft YaHei"/>
              </a:defRPr>
            </a:pPr>
            <a:r>
              <a:t>💡 集团部署建议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推荐路径：混合部署模式（核心数据本地化 + 通用功能云端化）</a:t>
            </a:r>
          </a:p>
          <a:p>
            <a:pPr>
              <a:spcAft>
                <a:spcPts val="22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第一阶段：云端SaaS快速验证（1-2个月），选择通义法睿或AlphaGPT进行POC</a:t>
            </a:r>
          </a:p>
          <a:p>
            <a:pPr>
              <a:spcAft>
                <a:spcPts val="22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第二阶段：私有化部署核心模块（3-6个月），采用竹间智能或法大大私有版</a:t>
            </a:r>
          </a:p>
          <a:p>
            <a:pPr>
              <a:spcAft>
                <a:spcPts val="22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第三阶段：持续优化与扩展，根据业务需求增加模块和场景覆盖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4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07  集团适用场景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0">
                <a:solidFill>
                  <a:srgbClr val="AED6F1"/>
                </a:solidFill>
                <a:latin typeface="Microsoft YaHei"/>
              </a:defRPr>
            </a:pPr>
            <a:r>
              <a:t>GROUP USE CASE SCENARIOS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566160" cy="228600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合同智能审查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4630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900" b="0">
                <a:solidFill>
                  <a:srgbClr val="E74C3C"/>
                </a:solidFill>
                <a:latin typeface="Microsoft YaHei"/>
              </a:defRPr>
            </a:pPr>
            <a:r>
              <a:t>优先级: 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■ 合同条款合规性自动审查</a:t>
            </a:r>
          </a:p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■ 风险条款智能识别与标注</a:t>
            </a:r>
          </a:p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■ 合同对比与版本管理</a:t>
            </a:r>
          </a:p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■ 模板推荐与智能起草</a:t>
            </a:r>
          </a:p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推荐产品：AlphaGPT / 通义法睿 / 法大大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566160" cy="228600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63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法规合规管理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4630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900" b="0">
                <a:solidFill>
                  <a:srgbClr val="E74C3C"/>
                </a:solidFill>
                <a:latin typeface="Microsoft YaHei"/>
              </a:defRPr>
            </a:pPr>
            <a:r>
              <a:t>优先级: 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■ 法规变更实时追踪与影响分析</a:t>
            </a:r>
          </a:p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■ 合规检查清单自动生成</a:t>
            </a:r>
          </a:p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■ 合规报告自动化</a:t>
            </a:r>
          </a:p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■ 监管政策智能解读</a:t>
            </a:r>
          </a:p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推荐产品：北大英华LexAI / 得理法搜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566160" cy="22860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63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法律知识管理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14630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900" b="0">
                <a:solidFill>
                  <a:srgbClr val="2E86C1"/>
                </a:solidFill>
                <a:latin typeface="Microsoft YaHei"/>
              </a:defRPr>
            </a:pPr>
            <a:r>
              <a:t>优先级: 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8288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■ 企业法律知识库建设</a:t>
            </a:r>
          </a:p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■ 判例/法规智能检索</a:t>
            </a:r>
          </a:p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■ 法律问答与咨询服务</a:t>
            </a:r>
          </a:p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■ 法律培训材料自动生成</a:t>
            </a:r>
          </a:p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推荐产品：通义法睿 / 无讼法务AI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31920"/>
            <a:ext cx="3566160" cy="22860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2335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诉讼案件管理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023359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900" b="0">
                <a:solidFill>
                  <a:srgbClr val="2E86C1"/>
                </a:solidFill>
                <a:latin typeface="Microsoft YaHei"/>
              </a:defRPr>
            </a:pPr>
            <a:r>
              <a:t>优先级: 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■ 案件信息自动提取与归档</a:t>
            </a:r>
          </a:p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■ 证据链智能分析</a:t>
            </a:r>
          </a:p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■ 诉状/法律文书起草</a:t>
            </a:r>
          </a:p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■ 案件结果预测辅助</a:t>
            </a:r>
          </a:p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推荐产品：CoCounsel / AlphaGPT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931920"/>
            <a:ext cx="3566160" cy="228600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402335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知识产权管理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023359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900" b="0">
                <a:solidFill>
                  <a:srgbClr val="E74C3C"/>
                </a:solidFill>
                <a:latin typeface="Microsoft YaHei"/>
              </a:defRPr>
            </a:pPr>
            <a:r>
              <a:t>优先级: 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3891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■ 商标/专利检索与监控</a:t>
            </a:r>
          </a:p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■ 侵权风险自动识别</a:t>
            </a:r>
          </a:p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■ IP资产管理看板</a:t>
            </a:r>
          </a:p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■ 版权合规审查</a:t>
            </a:r>
          </a:p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推荐产品：通义法睿 / 契约锁AI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931920"/>
            <a:ext cx="3566160" cy="2286000"/>
          </a:xfrm>
          <a:prstGeom prst="roundRect">
            <a:avLst/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02335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文旅行业专项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4023359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900" b="0">
                <a:solidFill>
                  <a:srgbClr val="E74C3C"/>
                </a:solidFill>
                <a:latin typeface="Microsoft YaHei"/>
              </a:defRPr>
            </a:pPr>
            <a:r>
              <a:t>优先级: 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3891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■ 景区/酒店运营合规审查</a:t>
            </a:r>
          </a:p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■ 文旅项目合同自动化</a:t>
            </a:r>
          </a:p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■ 游客纠纷法律支持</a:t>
            </a:r>
          </a:p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■ 文旅政策追踪与解读</a:t>
            </a:r>
          </a:p>
          <a:p>
            <a:pPr>
              <a:spcAft>
                <a:spcPts val="160"/>
              </a:spcAft>
              <a:defRPr sz="900">
                <a:solidFill>
                  <a:srgbClr val="2C3E50"/>
                </a:solidFill>
                <a:latin typeface="Microsoft YaHei"/>
              </a:defRPr>
            </a:pPr>
            <a:r>
              <a:t>推荐产品：法大大 + 得理法搜组合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4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开源法律AI模型全景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0">
                <a:solidFill>
                  <a:srgbClr val="AED6F1"/>
                </a:solidFill>
                <a:latin typeface="Microsoft YaHei"/>
              </a:defRPr>
            </a:pPr>
            <a:r>
              <a:t>OPEN-SOURCE LEGAL AI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开源法律模型分类与评估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28800"/>
          <a:ext cx="90525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13716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模型名称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基座架构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参数量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中文支持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推荐指数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SaulLM-7B/14B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Mistral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7B/14B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有限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★★★★☆ (海外)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DISC-LawLLM (复旦)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Baichuan-13B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13B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优秀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★★★★★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ChatLaw (北大)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ChatGLM/Baichuan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多版本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优秀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LexiLaw-6B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ChatGLM-6B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6B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优秀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Hanfei-LLM (韩非)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LLaMA2/Baichuan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多版本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优秀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Fuzi-Mingcha (夫子)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中文开源基座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多版本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优秀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★★★★☆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Legal-BERT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BERT-Base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110M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不支持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★★★★☆ (NLP)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LawGPT (社区版)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LLaMA2/3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7B+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一般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Open-Law-LLM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多基座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多版本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中文可用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★★★☆☆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开源模型选型建议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8288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中文场景首选：</a:t>
            </a:r>
          </a:p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  DISC-LawLLM (复旦) - 推理链策略</a:t>
            </a:r>
          </a:p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  ChatLaw (北大) - 知识图谱融合</a:t>
            </a:r>
          </a:p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轻量化部署：</a:t>
            </a:r>
          </a:p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  LexiLaw-6B - 6B参数消费级GPU</a:t>
            </a:r>
          </a:p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  Legal-BERT - 仅编码器，推理快</a:t>
            </a:r>
          </a:p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海外场景：</a:t>
            </a:r>
          </a:p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  SaulLM-7B/14B - 欧美法律体系</a:t>
            </a:r>
          </a:p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  Claude for Legal - 开源Agent方案</a:t>
            </a:r>
          </a:p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数据安全要求高：</a:t>
            </a:r>
          </a:p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  所有开源模型均支持本地部署</a:t>
            </a:r>
          </a:p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  推荐DISC-LawLLM + RAG方案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开源 vs 商业方案对比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5669280"/>
          <a:ext cx="9601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对比维度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开源模型方案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商业SaaS方案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获取成本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免费（需GPU资源）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¥2,000-10,000/用户/年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数据安全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完全本地化 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数据上云需评估 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定制能力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完全可定制 ✓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有限定制 ∆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维护成本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需自建技术团队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供应商运维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功能完整度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需自行开发应用层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开箱即用 ✓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推荐场景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数据敏感/深度定制需求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快速落地/标准化需求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4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08  合作建议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0">
                <a:solidFill>
                  <a:srgbClr val="AED6F1"/>
                </a:solidFill>
                <a:latin typeface="Microsoft YaHei"/>
              </a:defRPr>
            </a:pPr>
            <a:r>
              <a:t>COOPERATION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20040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第一阶段：POC验证（1-2个月）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目标：快速验证AI法务审核在集团场景的可行性</a:t>
            </a:r>
          </a:p>
          <a:p>
            <a:pPr>
              <a:spcAft>
                <a:spcPts val="17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方案：选择1-2个高频场景（合同审查+法规检索）进行试点</a:t>
            </a:r>
          </a:p>
          <a:p>
            <a:pPr>
              <a:spcAft>
                <a:spcPts val="17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推荐产品：通义法睿（云端API，快速接入）或 AlphaGPT（合同专精）</a:t>
            </a:r>
          </a:p>
          <a:p>
            <a:pPr>
              <a:spcAft>
                <a:spcPts val="17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验证指标：审查效率提升比例、准确率、用户满意度</a:t>
            </a:r>
          </a:p>
          <a:p>
            <a:pPr>
              <a:spcAft>
                <a:spcPts val="17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预算范围：¥5,000-20,000（POC阶段）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08960"/>
            <a:ext cx="3200400" cy="3200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272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第二阶段：深度落地（3-6个月）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目标：私有化部署核心模块，覆盖更多业务场景</a:t>
            </a:r>
          </a:p>
          <a:p>
            <a:pPr>
              <a:spcAft>
                <a:spcPts val="17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方案：采用混合部署架构，核心数据本地化</a:t>
            </a:r>
          </a:p>
          <a:p>
            <a:pPr>
              <a:spcAft>
                <a:spcPts val="17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推荐方案：竹间智能（私有化AI平台） + 通义法睿（云端API互补）</a:t>
            </a:r>
          </a:p>
          <a:p>
            <a:pPr>
              <a:spcAft>
                <a:spcPts val="17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场景扩展：合同审查→合规管理→法律知识管理→文旅专项</a:t>
            </a:r>
          </a:p>
          <a:p>
            <a:pPr>
              <a:spcAft>
                <a:spcPts val="17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预算范围：¥20万-80万（含部署+首年服务费）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846320"/>
            <a:ext cx="3200400" cy="3200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86460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第三阶段：生态构建（6-12个月）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5780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目标：构建集团AI法务中台，赋能多业务线</a:t>
            </a:r>
          </a:p>
          <a:p>
            <a:pPr>
              <a:spcAft>
                <a:spcPts val="17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方案：建立法务AI能力中心，标准化AI法务服务</a:t>
            </a:r>
          </a:p>
          <a:p>
            <a:pPr>
              <a:spcAft>
                <a:spcPts val="17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推荐路径：开源模型（DISC-LawLLM）微调 + 商业产品组合</a:t>
            </a:r>
          </a:p>
          <a:p>
            <a:pPr>
              <a:spcAft>
                <a:spcPts val="17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场景延伸：知识产权管理、诉讼辅助、文旅政策智库</a:t>
            </a:r>
          </a:p>
          <a:p>
            <a:pPr>
              <a:spcAft>
                <a:spcPts val="17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投入模式：年度预算制 + 按使用量结算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600" b="1">
                <a:solidFill>
                  <a:srgbClr val="1B3A5C"/>
                </a:solidFill>
                <a:latin typeface="Microsoft YaHei"/>
              </a:defRPr>
            </a:pPr>
            <a:r>
              <a:t>核心供应商评估矩阵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0" y="1828800"/>
          <a:ext cx="5760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22960"/>
                <a:gridCol w="822960"/>
                <a:gridCol w="822960"/>
                <a:gridCol w="82296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供应商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技术力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场景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覆盖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安全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性价比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综合</a:t>
                      </a:r>
                    </a:p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推荐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通义法睿(阿里云)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8.0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AlphaGPT(iCourt)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7.5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竹间智能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7.8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法大大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7.8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契约锁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7.3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得理法搜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7.0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开源方案(自建)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7.5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7772400" y="5303520"/>
            <a:ext cx="4114800" cy="1371600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539496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🎯 首选方案</a:t>
            </a:r>
          </a:p>
          <a:p>
            <a:pPr>
              <a:spcAft>
                <a:spcPts val="12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通义法睿（云端入口）</a:t>
            </a:r>
          </a:p>
          <a:p>
            <a:pPr>
              <a:spcAft>
                <a:spcPts val="12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+ 竹间智能（私有化核心）</a:t>
            </a:r>
          </a:p>
          <a:p>
            <a:pPr>
              <a:spcAft>
                <a:spcPts val="12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+ 开源DISC-LawLLM（技术储备）</a:t>
            </a:r>
          </a:p>
          <a:p>
            <a:pPr>
              <a:spcAft>
                <a:spcPts val="12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2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📋 备选方案</a:t>
            </a:r>
          </a:p>
          <a:p>
            <a:pPr>
              <a:spcAft>
                <a:spcPts val="12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AlphaGPT（合同专精）</a:t>
            </a:r>
          </a:p>
          <a:p>
            <a:pPr>
              <a:spcAft>
                <a:spcPts val="12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+ 法大大（签章集成）</a:t>
            </a:r>
          </a:p>
          <a:p>
            <a:pPr>
              <a:spcAft>
                <a:spcPts val="12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+ 得理法搜（法律检索）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4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集团AI法务中台架构建议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0">
                <a:solidFill>
                  <a:srgbClr val="AED6F1"/>
                </a:solidFill>
                <a:latin typeface="Microsoft YaHei"/>
              </a:defRPr>
            </a:pPr>
            <a:r>
              <a:t>RECOMMENDED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371600" cy="8686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应用层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1828800"/>
            <a:ext cx="1645920" cy="86868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2011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合同智能审查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1828800"/>
            <a:ext cx="1645920" cy="86868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59" y="2011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法规合规管理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828800"/>
            <a:ext cx="1645920" cy="86868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59" y="2011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法律知识问答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828800"/>
            <a:ext cx="1645920" cy="86868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011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文旅专项审查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1828800"/>
            <a:ext cx="1645920" cy="86868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2011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IP资产管理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971800"/>
            <a:ext cx="1371600" cy="86868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服务层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03120" y="2971800"/>
            <a:ext cx="1645920" cy="86868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4560" y="3154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LLM推理服务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0" y="2971800"/>
            <a:ext cx="1645920" cy="86868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59" y="3154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RAG检索增强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2971800"/>
            <a:ext cx="1645920" cy="86868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59" y="3154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知识图谱引擎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2971800"/>
            <a:ext cx="1645920" cy="86868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3154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工作流引擎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20" y="2971800"/>
            <a:ext cx="1645920" cy="86868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0" y="3154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权限与审计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14800"/>
            <a:ext cx="1371600" cy="8686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03120" y="4114800"/>
            <a:ext cx="1645920" cy="86868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4297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内部法务知识库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31920" y="4114800"/>
            <a:ext cx="1645920" cy="86868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59" y="4297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合同模板库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0720" y="4114800"/>
            <a:ext cx="1645920" cy="86868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59" y="4297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法规判例数据库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89520" y="4114800"/>
            <a:ext cx="1645920" cy="86868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0" y="4297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供应商资料库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18320" y="4114800"/>
            <a:ext cx="1645920" cy="86868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0" y="4297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行业政策库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257800"/>
            <a:ext cx="1371600" cy="868680"/>
          </a:xfrm>
          <a:prstGeom prst="roundRect">
            <a:avLst/>
          </a:prstGeom>
          <a:solidFill>
            <a:srgbClr val="566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基础设施层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03120" y="5257800"/>
            <a:ext cx="1645920" cy="8686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566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94560" y="5440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GPU推理集群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31920" y="5257800"/>
            <a:ext cx="1645920" cy="8686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566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23359" y="5440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向量数据库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60720" y="5257800"/>
            <a:ext cx="1645920" cy="8686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566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52159" y="5440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对象存储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89520" y="5257800"/>
            <a:ext cx="1645920" cy="8686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566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0" y="5440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API网关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18320" y="5257800"/>
            <a:ext cx="1645920" cy="8686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566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09760" y="54406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安全防火墙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900" b="0">
                <a:solidFill>
                  <a:srgbClr val="7F8C8D"/>
                </a:solidFill>
                <a:latin typeface="Microsoft YaHei"/>
              </a:defRPr>
            </a:pPr>
            <a:r>
              <a:t>说明：采用分层解耦架构，各层独立扩展；应用层按场景灵活组合，服务层统一AI能力输出，数据层确保合规与安全，基础设施层支持私有化/云端混合部署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4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风险与挑战分析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0">
                <a:solidFill>
                  <a:srgbClr val="AED6F1"/>
                </a:solidFill>
                <a:latin typeface="Microsoft YaHei"/>
              </a:defRPr>
            </a:pPr>
            <a:r>
              <a:t>RISK &amp; CHALLENGE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3949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394960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904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⚡ 数据安全与合规风险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508760"/>
            <a:ext cx="1097280" cy="2743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904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风险：高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法律数据涉及集团核心商业秘密，云端部署存在数据泄露风险</a:t>
            </a:r>
          </a:p>
          <a:p>
            <a:pPr>
              <a:spcAft>
                <a:spcPts val="18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跨境数据传输需满足《数据安全法》《个人信息保护法》要求</a:t>
            </a:r>
          </a:p>
          <a:p>
            <a:pPr>
              <a:spcAft>
                <a:spcPts val="18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应对：采用混合部署架构，敏感数据完全本地化处理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463040"/>
            <a:ext cx="53949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463040"/>
            <a:ext cx="5394960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4904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⚡ AI输出准确性与责任归属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1508760"/>
            <a:ext cx="1097280" cy="2743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14904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风险：高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96596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AI幻觉问题在法律场景可能导致严重后果</a:t>
            </a:r>
          </a:p>
          <a:p>
            <a:pPr>
              <a:spcAft>
                <a:spcPts val="18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目前行业最高法条引用正确率98%，仍有2%错误可能</a:t>
            </a:r>
          </a:p>
          <a:p>
            <a:pPr>
              <a:spcAft>
                <a:spcPts val="18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应对：建立人工审核兜底机制，AI输出标注溯源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31920"/>
            <a:ext cx="53949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931920"/>
            <a:ext cx="5394960" cy="365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9593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⚡ 技术和人才储备不足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977640"/>
            <a:ext cx="1097280" cy="2743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9593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风险：中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3484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法律AI需要法律+技术的复合型人才</a:t>
            </a:r>
          </a:p>
          <a:p>
            <a:pPr>
              <a:spcAft>
                <a:spcPts val="18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模型训练和维护需要专业ML工程能力</a:t>
            </a:r>
          </a:p>
          <a:p>
            <a:pPr>
              <a:spcAft>
                <a:spcPts val="18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应对：与供应商建立联合运营模式，逐步培养内部能力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31920"/>
            <a:ext cx="539496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31920"/>
            <a:ext cx="5394960" cy="3657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39593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⚡ 供应商锁定风险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41280" y="3977640"/>
            <a:ext cx="1097280" cy="27432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0" y="39593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风险：中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43484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过度依赖单一供应商可能导致议价能力丧失</a:t>
            </a:r>
          </a:p>
          <a:p>
            <a:pPr>
              <a:spcAft>
                <a:spcPts val="18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私有化部署的技术升级和迁移成本</a:t>
            </a:r>
          </a:p>
          <a:p>
            <a:pPr>
              <a:spcAft>
                <a:spcPts val="18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应对：采用开源+商业组合，保持技术路线灵活性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4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研究方法与数据来源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0">
                <a:solidFill>
                  <a:srgbClr val="AED6F1"/>
                </a:solidFill>
                <a:latin typeface="Microsoft YaHei"/>
              </a:defRPr>
            </a:pPr>
            <a:r>
              <a:t>METHODOLOGY &amp; DATA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研究框架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一、数据采集</a:t>
            </a:r>
          </a:p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  · 供应商资料库：11家核心供应商产品信息</a:t>
            </a:r>
          </a:p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  · 行业媒体监测：12条高质量行业资讯</a:t>
            </a:r>
          </a:p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  · 开源模型调研：15个法律AI开源模型评估</a:t>
            </a:r>
          </a:p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二、分析维度</a:t>
            </a:r>
          </a:p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  · 产品维度：功能矩阵、技术路线、部署方式、收费模式</a:t>
            </a:r>
          </a:p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  · 市场维度：行业趋势、竞争格局、用户渗透率</a:t>
            </a:r>
          </a:p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  · 技术维度：模型架构、训练策略、性能评估</a:t>
            </a:r>
          </a:p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  · 商业维度：适用场景、合作模式、投入产出比</a:t>
            </a:r>
          </a:p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</a:p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三、评估标准</a:t>
            </a:r>
          </a:p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  · 技术成熟度：产品功能完整度与AI能力水平</a:t>
            </a:r>
          </a:p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  · 数据安全性：部署方式与合规性满足度</a:t>
            </a:r>
          </a:p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  · 性价比：功能/价格比与长期TCO</a:t>
            </a:r>
          </a:p>
          <a:p>
            <a:pPr>
              <a:spcAft>
                <a:spcPts val="14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  · 生态兼容性：与现有系统集成能力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800" b="1">
                <a:solidFill>
                  <a:srgbClr val="1B3A5C"/>
                </a:solidFill>
                <a:latin typeface="Microsoft YaHei"/>
              </a:defRPr>
            </a:pPr>
            <a:r>
              <a:t>数据来源统计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583680" y="1828800"/>
          <a:ext cx="50292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0" y="4572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关键来源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846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  · Law.com Legaltech News - 法律科技权威媒体</a:t>
            </a:r>
          </a:p>
          <a:p>
            <a:pPr>
              <a:spcAft>
                <a:spcPts val="16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  · Artificial Lawyer - AI+法律垂直媒体</a:t>
            </a:r>
          </a:p>
          <a:p>
            <a:pPr>
              <a:spcAft>
                <a:spcPts val="16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  · Fortune Business Insights - 市场规模数据</a:t>
            </a:r>
          </a:p>
          <a:p>
            <a:pPr>
              <a:spcAft>
                <a:spcPts val="16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  · 斯坦福AI指数报告 - 技术趋势数据</a:t>
            </a:r>
          </a:p>
          <a:p>
            <a:pPr>
              <a:spcAft>
                <a:spcPts val="16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  · Gartner / OpenAxO - 行业分析报告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4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下一步行动计划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0">
                <a:solidFill>
                  <a:srgbClr val="AED6F1"/>
                </a:solidFill>
                <a:latin typeface="Microsoft YaHei"/>
              </a:defRPr>
            </a:pPr>
            <a:r>
              <a:t>NEXT STEPS &amp; ACTION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1097280" cy="320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第1周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内部需求调研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组织法务、合规、IT部门需求访谈</a:t>
            </a:r>
          </a:p>
          <a:p>
            <a:pPr>
              <a:spcAft>
                <a:spcPts val="18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明确集团AI法务核心痛点与优先级</a:t>
            </a:r>
          </a:p>
          <a:p>
            <a:pPr>
              <a:spcAft>
                <a:spcPts val="18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输出需求规格说明书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08960" y="1691640"/>
            <a:ext cx="457200" cy="18288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1645920"/>
            <a:ext cx="1097280" cy="3200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6642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第2-3周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03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供应商深度对接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6888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联系通义法睿、AlphaGPT、竹间智能</a:t>
            </a:r>
          </a:p>
          <a:p>
            <a:pPr>
              <a:spcAft>
                <a:spcPts val="18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获取详细方案与报价</a:t>
            </a:r>
          </a:p>
          <a:p>
            <a:pPr>
              <a:spcAft>
                <a:spcPts val="18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安排产品Demo演示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35040" y="1691640"/>
            <a:ext cx="457200" cy="18288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1645920"/>
            <a:ext cx="1097280" cy="320040"/>
          </a:xfrm>
          <a:prstGeom prst="roundRect">
            <a:avLst/>
          </a:prstGeom>
          <a:solidFill>
            <a:srgbClr val="1A5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6642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第4-5周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103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POC方案设计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6888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选定1-2个试点场景</a:t>
            </a:r>
          </a:p>
          <a:p>
            <a:pPr>
              <a:spcAft>
                <a:spcPts val="18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制定POC测试计划与验收标准</a:t>
            </a:r>
          </a:p>
          <a:p>
            <a:pPr>
              <a:spcAft>
                <a:spcPts val="18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准备测试数据集与环境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61120" y="1691640"/>
            <a:ext cx="457200" cy="18288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35440" y="1645920"/>
            <a:ext cx="1097280" cy="32004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6642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第6-8周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103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POC执行与评估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46888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执行POC测试</a:t>
            </a:r>
          </a:p>
          <a:p>
            <a:pPr>
              <a:spcAft>
                <a:spcPts val="18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收集用户反馈与性能数据</a:t>
            </a:r>
          </a:p>
          <a:p>
            <a:pPr>
              <a:spcAft>
                <a:spcPts val="180"/>
              </a:spcAft>
              <a:defRPr sz="1000">
                <a:solidFill>
                  <a:srgbClr val="2C3E50"/>
                </a:solidFill>
                <a:latin typeface="Microsoft YaHei"/>
              </a:defRPr>
            </a:pPr>
            <a:r>
              <a:t>输出POC评估报告与下一步建议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754880"/>
            <a:ext cx="11247120" cy="13716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846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1400" b="1">
                <a:solidFill>
                  <a:srgbClr val="1B3A5C"/>
                </a:solidFill>
                <a:latin typeface="Microsoft YaHei"/>
              </a:defRPr>
            </a:pPr>
            <a:r>
              <a:t>📌 关键里程碑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12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  2026年7月底：完成POC验证，确定长期合作供应商</a:t>
            </a:r>
          </a:p>
          <a:p>
            <a:pPr>
              <a:spcAft>
                <a:spcPts val="17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  2026年9月底：完成私有化部署与核心场景上线</a:t>
            </a:r>
          </a:p>
          <a:p>
            <a:pPr>
              <a:spcAft>
                <a:spcPts val="17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  2026年12月底：实现3+业务场景覆盖，AI法务中台V1.0上线</a:t>
            </a:r>
          </a:p>
          <a:p>
            <a:pPr>
              <a:spcAft>
                <a:spcPts val="170"/>
              </a:spcAft>
              <a:defRPr sz="1100">
                <a:solidFill>
                  <a:srgbClr val="2C3E50"/>
                </a:solidFill>
                <a:latin typeface="Microsoft YaHei"/>
              </a:defRPr>
            </a:pPr>
            <a:r>
              <a:t>  2027年Q1：启动AI法务能力对外输出，赋能合作伙伴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4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44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5029200"/>
            <a:ext cx="3200400" cy="3200400"/>
          </a:xfrm>
          <a:prstGeom prst="ellipse">
            <a:avLst/>
          </a:prstGeom>
          <a:solidFill>
            <a:srgbClr val="244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感谢阅读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2400" b="0">
                <a:solidFill>
                  <a:srgbClr val="AED6F1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114800"/>
            <a:ext cx="210312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400" b="0">
                <a:solidFill>
                  <a:srgbClr val="AED6F1"/>
                </a:solidFill>
                <a:latin typeface="Microsoft YaHei"/>
              </a:defRPr>
            </a:pPr>
            <a:r>
              <a:t>企业AI行业研究部  |  2026年6月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937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1000" b="0">
                <a:solidFill>
                  <a:srgbClr val="7FA8C8"/>
                </a:solidFill>
                <a:latin typeface="Microsoft YaHei"/>
              </a:defRPr>
            </a:pPr>
            <a:r>
              <a:t>本报告数据截至2026年6月10日</a:t>
            </a:r>
            <a:br/>
            <a:r>
              <a:t>数据来源：供应商公开资料、行业媒体报道、开源社区</a:t>
            </a:r>
            <a:br/>
            <a:r>
              <a:t>仅供内部决策参考，不构成商业建议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40"/>
              </a:spcAft>
              <a:defRPr sz="1000" b="0">
                <a:solidFill>
                  <a:srgbClr val="7F8C8D"/>
                </a:solidFill>
                <a:latin typeface="Microsoft YaHei"/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